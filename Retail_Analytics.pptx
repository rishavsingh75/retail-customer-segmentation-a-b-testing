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51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162236"/>
          </a:solidFill>
          <a:ln w="12700">
            <a:solidFill>
              <a:srgbClr val="1622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Retail Customer Segmentation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A/B Test Evaluation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Behaviour Analysis · Matched Control A/B Testing · Uplift Measurement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41148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· pandas · matplotlib · seaborn · scipy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~265K transactions · 272 stores · Jul 2018 – Jun 2019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606040" cy="384048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Customer Segments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91840" y="3611880"/>
            <a:ext cx="2606040" cy="384048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36118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259 Stores Analysed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3611880"/>
            <a:ext cx="2606040" cy="384048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361188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Significance Level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Rishav Kumar Singh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Context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supermarket chips category manager needed answers to two problems: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3840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64208"/>
            <a:ext cx="3840480" cy="1097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Customer Segmentation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buying chips and why?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segments drive the most revenue?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it more customers or higher spend per person?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 some segments pay more per pack?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Brand &amp; pack size preferences?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64208"/>
            <a:ext cx="38404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664208"/>
            <a:ext cx="3840480" cy="1097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83480" y="184708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A/B Test Evaluation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83480" y="224028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 new shelf layout actually work?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Find matched control stores (Group B)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 sales &amp; customer uplift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statistical significance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 rollout decision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stores: 77, 86, 88   |   Trial period: Feb – Apr 2019   |   Significance level: 95%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PART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Format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stored as Excel serial integer → converted using origin 1899-12-30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Removal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80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products found in chip dataset → removed (not chips)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70332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Removed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69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226000 bought 200 packs twice all year → commercial buyer, excluded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00600" y="132588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32588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399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69164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transactions on Dec 25 → Christmas, stores closed. Not a data issue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00600" y="251460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51460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587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PACK_SIZE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288036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grams from product name using regex → 70g to 380g range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3703320"/>
            <a:ext cx="41148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00600" y="3703320"/>
            <a:ext cx="73152" cy="10058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3776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069080"/>
            <a:ext cx="3840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word of product name → fixed aliases (SMITH→SMITHS, WW→WOOLWORTHS etc.)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PART 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Buys the Most Chips?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0604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more units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customer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325880"/>
            <a:ext cx="2606040" cy="5029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Singles/Couples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segment size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pay more per pack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325880"/>
            <a:ext cx="2606040" cy="502920"/>
          </a:xfrm>
          <a:prstGeom prst="rect">
            <a:avLst/>
          </a:prstGeom>
          <a:solidFill>
            <a:srgbClr val="2D6A9F"/>
          </a:solidFill>
          <a:ln w="12700">
            <a:solidFill>
              <a:srgbClr val="2D6A9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36208" y="1353312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2651760"/>
            <a:ext cx="2423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880360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segment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950208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High sales in Mainstream Young Singles/Couples and Retirees is driven by segment size, not high spend per person. Budget Older Families buy the most units per customer.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PART 1 — DEEP DIVE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Mainstream Young Singles/Couples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560320" cy="14630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173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$4.04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per unit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$3.71 for others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560320" cy="146304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1.12e-309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91840" y="20299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Welch's t-test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Statistically significant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Affinity (vs rest of population)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Tyrrells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0" y="3383280"/>
            <a:ext cx="736092" cy="18288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20924" y="33375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6850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11680" y="3730752"/>
            <a:ext cx="736092" cy="18288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0924" y="3685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403250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Kettle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011680" y="4078224"/>
            <a:ext cx="640080" cy="18288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24912" y="403250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3799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Burger Rings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011680" y="4425696"/>
            <a:ext cx="18288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84832" y="43799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−55%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7920" y="1280160"/>
            <a:ext cx="2468880" cy="3657600"/>
          </a:xfrm>
          <a:prstGeom prst="rect">
            <a:avLst/>
          </a:prstGeom>
          <a:solidFill>
            <a:srgbClr val="FFF8EC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14173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783080"/>
            <a:ext cx="22860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Off-locate Tyrrells and larger packs near checkout and beverage aisles to capture impulse purchases.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pay more per pack and have clear brand preferences — visibility drives conversion.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PART 2 — A/B TESTING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A/B Test Was Set 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749040" cy="2011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 — Treatment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77, 86, 88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chip shelf layout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– Apr 2019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51960" y="2011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298448"/>
            <a:ext cx="374904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74920" y="14173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 — Control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4920" y="1828800"/>
            <a:ext cx="3474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stores 233, 155, 237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old layout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period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control stores were matched: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8912" y="3877056"/>
            <a:ext cx="20116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4944" y="3822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monthly sales + customer metrics per store (pre-trial period)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45152" y="3877056"/>
            <a:ext cx="20116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8770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01184" y="3822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every store using Pearson correlation + normalised magnitude distance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4352544"/>
            <a:ext cx="20116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4352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94944" y="4297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highest-scoring store as control (259 eligible stores)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4352544"/>
            <a:ext cx="201168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45152" y="43525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01184" y="42976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control metrics to trial store level → tested using t-statistics at 95% CI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554480" cy="25603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3774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</a:rPr>
              <a:t>PART 2 — 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Test 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period: Feb – Apr 2019   |   Method: scaled t-test vs pre-trial std deviation   |   Significance: 95%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00200"/>
            <a:ext cx="25603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77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ctrl: 233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487168"/>
            <a:ext cx="22860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 + Apr)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Uplift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3474720"/>
            <a:ext cx="22860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74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 + Apr)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434840"/>
            <a:ext cx="2560320" cy="36576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worked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160020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600200"/>
            <a:ext cx="25603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86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3756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ctrl: 155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8328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487168"/>
            <a:ext cx="2286000" cy="594360"/>
          </a:xfrm>
          <a:prstGeom prst="rect">
            <a:avLst/>
          </a:prstGeom>
          <a:solidFill>
            <a:srgbClr val="FDECEC"/>
          </a:solidFill>
          <a:ln w="12700">
            <a:solidFill>
              <a:srgbClr val="F5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8328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Uplift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83280" y="3474720"/>
            <a:ext cx="22860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474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(all 3 months)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46120" y="4434840"/>
            <a:ext cx="2560320" cy="3657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investigate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1600200"/>
            <a:ext cx="2560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1600200"/>
            <a:ext cx="25603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1645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 88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126480" y="18470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ctrl: 237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72200" y="2212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Uplift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172200" y="2487168"/>
            <a:ext cx="22860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487168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 + Apr)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32004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Uplift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72200" y="3474720"/>
            <a:ext cx="2286000" cy="594360"/>
          </a:xfrm>
          <a:prstGeom prst="rect">
            <a:avLst/>
          </a:prstGeom>
          <a:solidFill>
            <a:srgbClr val="E8F5EE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34747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7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 + Apr)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035040" y="4434840"/>
            <a:ext cx="2560320" cy="365760"/>
          </a:xfrm>
          <a:prstGeom prst="rect">
            <a:avLst/>
          </a:prstGeom>
          <a:solidFill>
            <a:srgbClr val="2D7D52"/>
          </a:solidFill>
          <a:ln w="12700">
            <a:solidFill>
              <a:srgbClr val="2D7D5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worked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1051560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61872"/>
            <a:ext cx="73152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53312"/>
            <a:ext cx="64008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4416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417320" y="13258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Placement 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645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Off-locate Tyrrells and larger packs (270g, 380g) near checkout and beverage aisles to capture impulse purchases from Mainstream Young Singles/Couples — they over-index on these brands and pay more per pack.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50592"/>
            <a:ext cx="8229600" cy="1051560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50592"/>
            <a:ext cx="73152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2542032"/>
            <a:ext cx="64008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328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5146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to Stores Similar to 77 &amp; 88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283464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stores showed significant uplift in sales and customers in 2 of 3 trial months. The A/B test confirms the new shelf layout works — recommend rolling out chain-wide.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51560"/>
          </a:xfrm>
          <a:prstGeom prst="rect">
            <a:avLst/>
          </a:prstGeom>
          <a:solidFill>
            <a:srgbClr val="243655"/>
          </a:solidFill>
          <a:ln w="12700">
            <a:solidFill>
              <a:srgbClr val="2E4A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73152" cy="10515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730752"/>
            <a:ext cx="640080" cy="2286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2160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417320" y="370332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Store 86 Before Scaling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0233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numbers increased significantly but sales did not. Possible cause: promotional pricing during the trial reduced average spend. Investigate before including Store 86-type stores in the rollout.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Customer Segmentation &amp; A/B Test Evaluation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On-screen Show (16:9)</PresentationFormat>
  <Paragraphs>151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Customer Segmentation &amp; A/B Test Evaluation</dc:title>
  <dc:subject>PptxGenJS Presentation</dc:subject>
  <dc:creator>PptxGenJS</dc:creator>
  <cp:lastModifiedBy>rishav rajput</cp:lastModifiedBy>
  <cp:revision>2</cp:revision>
  <dcterms:created xsi:type="dcterms:W3CDTF">2026-03-19T08:06:42Z</dcterms:created>
  <dcterms:modified xsi:type="dcterms:W3CDTF">2026-03-19T08:09:31Z</dcterms:modified>
</cp:coreProperties>
</file>